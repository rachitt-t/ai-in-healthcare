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  <p:embeddedFontLst>
    <p:embeddedFont>
      <p:font typeface="Geist"/>
      <p:regular r:id="rId19"/>
    </p:embeddedFont>
    <p:embeddedFont>
      <p:font typeface="Geist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2" Type="http://schemas.openxmlformats.org/officeDocument/2006/relationships/image" Target="../media/image-1013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5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1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7480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DOCTOR 2.0 – Working Model and Evaluation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783092"/>
            <a:ext cx="7556421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A Multimodal Medical Chatbot (Vision + Voice)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0190" y="497383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Presented to: Prof. Arun Bhadwal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59188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Team Members: Rachit Tayal, Kartik Tayal, Kartik Raika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1532"/>
            <a:ext cx="1211008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Introducing AI Doctor 2.0: The Multimodal Assistant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85213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Doctor 2.0 is an advanced AI assistant designed to simulate doctor–patient interactions by analyzing both voice and image inputs. This system integrates multiple open-source AI tools to provide end-to-end basic medical consultations.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857256" y="32811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Voice Input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771543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Real-time speech recognition for natural communication.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833092"/>
            <a:ext cx="4564975" cy="45649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5633" y="3815953"/>
            <a:ext cx="339328" cy="339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937790" y="32811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Image Analysis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937790" y="3771543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Multimodal vision capabilities for diagnostic support.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833092"/>
            <a:ext cx="4564975" cy="4564975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75201" y="3815953"/>
            <a:ext cx="339328" cy="33932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37790" y="57336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NLU Integration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9937790" y="6224111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Natural Language Understanding processes input for medical context.</a:t>
            </a:r>
            <a:endParaRPr lang="en-US" sz="17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833092"/>
            <a:ext cx="4564975" cy="4564975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75201" y="6075521"/>
            <a:ext cx="339328" cy="33932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857256" y="57336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Voice Output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793790" y="6224111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Text-to-speech module for a human-like consultation response.</a:t>
            </a:r>
            <a:endParaRPr lang="en-US" sz="17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2653" y="2833092"/>
            <a:ext cx="4564975" cy="4564975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15633" y="6075521"/>
            <a:ext cx="339328" cy="3393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875" y="960477"/>
            <a:ext cx="8902303" cy="50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Core Objectives of the AI Doctor 2.0 Project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1875" y="1875711"/>
            <a:ext cx="13206651" cy="325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Our development focused on four critical areas to ensure a robust and functional prototype for healthcare applications.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6352" y="2429708"/>
            <a:ext cx="1634252" cy="11716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70365" y="2981920"/>
            <a:ext cx="285988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5033963" y="2633067"/>
            <a:ext cx="2542461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Scalability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033963" y="3072765"/>
            <a:ext cx="5447348" cy="325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Building a modular prototype suitable for future expansion.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881443" y="3617238"/>
            <a:ext cx="8986242" cy="11430"/>
          </a:xfrm>
          <a:prstGeom prst="roundRect">
            <a:avLst>
              <a:gd name="adj" fmla="val 1601576"/>
            </a:avLst>
          </a:prstGeom>
          <a:solidFill>
            <a:srgbClr val="42142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107" y="3652242"/>
            <a:ext cx="3268623" cy="11716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70365" y="4059317"/>
            <a:ext cx="285988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2</a:t>
            </a:r>
            <a:endParaRPr lang="en-US" sz="2250" dirty="0"/>
          </a:p>
        </p:txBody>
      </p:sp>
      <p:sp>
        <p:nvSpPr>
          <p:cNvPr id="11" name="Text 7"/>
          <p:cNvSpPr/>
          <p:nvPr/>
        </p:nvSpPr>
        <p:spPr>
          <a:xfrm>
            <a:off x="5851088" y="3855601"/>
            <a:ext cx="2542461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Accuracy &amp; Speed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5851088" y="4295299"/>
            <a:ext cx="4974550" cy="325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Ensuring fast, secure, and medically relevant analysis.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698569" y="4839772"/>
            <a:ext cx="8169116" cy="11430"/>
          </a:xfrm>
          <a:prstGeom prst="roundRect">
            <a:avLst>
              <a:gd name="adj" fmla="val 1601576"/>
            </a:avLst>
          </a:prstGeom>
          <a:solidFill>
            <a:srgbClr val="42142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981" y="4874776"/>
            <a:ext cx="4902875" cy="11716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70365" y="5281851"/>
            <a:ext cx="285988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3</a:t>
            </a:r>
            <a:endParaRPr lang="en-US" sz="2250" dirty="0"/>
          </a:p>
        </p:txBody>
      </p:sp>
      <p:sp>
        <p:nvSpPr>
          <p:cNvPr id="16" name="Text 11"/>
          <p:cNvSpPr/>
          <p:nvPr/>
        </p:nvSpPr>
        <p:spPr>
          <a:xfrm>
            <a:off x="6668214" y="5078135"/>
            <a:ext cx="2831544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Real-Time Interaction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6668214" y="5517833"/>
            <a:ext cx="5592008" cy="325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Enabling natural, continuous doctor–patient communication.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515695" y="6062305"/>
            <a:ext cx="7351990" cy="11430"/>
          </a:xfrm>
          <a:prstGeom prst="roundRect">
            <a:avLst>
              <a:gd name="adj" fmla="val 1601576"/>
            </a:avLst>
          </a:prstGeom>
          <a:solidFill>
            <a:srgbClr val="421424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855" y="6097310"/>
            <a:ext cx="6537246" cy="117169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870484" y="6504384"/>
            <a:ext cx="285988" cy="357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4</a:t>
            </a:r>
            <a:endParaRPr lang="en-US" sz="2250" dirty="0"/>
          </a:p>
        </p:txBody>
      </p:sp>
      <p:sp>
        <p:nvSpPr>
          <p:cNvPr id="21" name="Text 15"/>
          <p:cNvSpPr/>
          <p:nvPr/>
        </p:nvSpPr>
        <p:spPr>
          <a:xfrm>
            <a:off x="7485459" y="6300668"/>
            <a:ext cx="2542461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Multimodal Fusion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7485459" y="6740366"/>
            <a:ext cx="6043851" cy="325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Combining 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FFB39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vision, voice, and language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understanding seamlessly.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0564" y="736163"/>
            <a:ext cx="6479858" cy="500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Technology Stack and Key Tools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700564" y="1636871"/>
            <a:ext cx="13229273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project leverages state-of-the-art open-source and commercial APIs for efficient processing and accurate output generation.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0564" y="2182177"/>
            <a:ext cx="500420" cy="5004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0564" y="2932748"/>
            <a:ext cx="2502218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Groq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00564" y="3365540"/>
            <a:ext cx="6489502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High-speed AI inference and LLM execution acceleration.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0216" y="2182177"/>
            <a:ext cx="500420" cy="5004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40216" y="2932748"/>
            <a:ext cx="2502218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OpenAI Whisper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7440216" y="3365540"/>
            <a:ext cx="6489621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Best-in-class model for accurate speech-to-text transcription.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0564" y="4085987"/>
            <a:ext cx="500420" cy="5004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0564" y="4836557"/>
            <a:ext cx="2502218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Llama 3 Vision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700564" y="5269349"/>
            <a:ext cx="6489502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Multimodal LLM enabling visual and complex text reasoning.</a:t>
            </a:r>
            <a:endParaRPr lang="en-US" sz="1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40216" y="4085987"/>
            <a:ext cx="500420" cy="5004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40216" y="4836557"/>
            <a:ext cx="2502218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gTTS / ElevenLabs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7440216" y="5269349"/>
            <a:ext cx="6489621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Advanced text-to-speech engines for natural voice synthesis.</a:t>
            </a:r>
            <a:endParaRPr lang="en-US" sz="15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0564" y="5989796"/>
            <a:ext cx="500420" cy="5004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00564" y="6740366"/>
            <a:ext cx="2502218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Gradio</a:t>
            </a:r>
            <a:endParaRPr lang="en-US" sz="1950" dirty="0"/>
          </a:p>
        </p:txBody>
      </p:sp>
      <p:sp>
        <p:nvSpPr>
          <p:cNvPr id="18" name="Text 11"/>
          <p:cNvSpPr/>
          <p:nvPr/>
        </p:nvSpPr>
        <p:spPr>
          <a:xfrm>
            <a:off x="700564" y="7173158"/>
            <a:ext cx="6489502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Quickly deploying an interactive, user-friendly interface.</a:t>
            </a:r>
            <a:endParaRPr lang="en-US" sz="15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40216" y="5989796"/>
            <a:ext cx="500420" cy="5004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40216" y="6740366"/>
            <a:ext cx="2502218" cy="31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Development</a:t>
            </a:r>
            <a:endParaRPr lang="en-US" sz="1950" dirty="0"/>
          </a:p>
        </p:txBody>
      </p:sp>
      <p:sp>
        <p:nvSpPr>
          <p:cNvPr id="21" name="Text 13"/>
          <p:cNvSpPr/>
          <p:nvPr/>
        </p:nvSpPr>
        <p:spPr>
          <a:xfrm>
            <a:off x="7440216" y="7173158"/>
            <a:ext cx="6489621" cy="320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Python and VS Code were the primary environment for development.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16479" y="495300"/>
            <a:ext cx="7883842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Project Infrastructure and Environment Setup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116479" y="1665446"/>
            <a:ext cx="7883842" cy="57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crucial first step involved configuring the necessary dependencies and integrating modules into a unified environment for seamless operation.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251496" y="2443996"/>
            <a:ext cx="22860" cy="5290185"/>
          </a:xfrm>
          <a:prstGeom prst="roundRect">
            <a:avLst>
              <a:gd name="adj" fmla="val 708828"/>
            </a:avLst>
          </a:prstGeom>
          <a:solidFill>
            <a:srgbClr val="B7D5CA"/>
          </a:solidFill>
          <a:ln/>
        </p:spPr>
      </p:sp>
      <p:sp>
        <p:nvSpPr>
          <p:cNvPr id="6" name="Shape 3"/>
          <p:cNvSpPr/>
          <p:nvPr/>
        </p:nvSpPr>
        <p:spPr>
          <a:xfrm>
            <a:off x="6228636" y="2958822"/>
            <a:ext cx="540068" cy="22860"/>
          </a:xfrm>
          <a:prstGeom prst="roundRect">
            <a:avLst>
              <a:gd name="adj" fmla="val 708828"/>
            </a:avLst>
          </a:prstGeom>
          <a:solidFill>
            <a:srgbClr val="B7D5CA"/>
          </a:solidFill>
          <a:ln/>
        </p:spPr>
      </p:sp>
      <p:sp>
        <p:nvSpPr>
          <p:cNvPr id="7" name="Shape 4"/>
          <p:cNvSpPr/>
          <p:nvPr/>
        </p:nvSpPr>
        <p:spPr>
          <a:xfrm>
            <a:off x="6183987" y="2902744"/>
            <a:ext cx="135017" cy="135017"/>
          </a:xfrm>
          <a:prstGeom prst="roundRect">
            <a:avLst>
              <a:gd name="adj" fmla="val 338624"/>
            </a:avLst>
          </a:prstGeom>
          <a:solidFill>
            <a:srgbClr val="006747"/>
          </a:solidFill>
          <a:ln/>
        </p:spPr>
      </p:sp>
      <p:sp>
        <p:nvSpPr>
          <p:cNvPr id="8" name="Shape 5"/>
          <p:cNvSpPr/>
          <p:nvPr/>
        </p:nvSpPr>
        <p:spPr>
          <a:xfrm>
            <a:off x="6791563" y="2443996"/>
            <a:ext cx="7208758" cy="1052513"/>
          </a:xfrm>
          <a:prstGeom prst="roundRect">
            <a:avLst>
              <a:gd name="adj" fmla="val 15395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79206" y="2631638"/>
            <a:ext cx="2250519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Configuration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979206" y="3020854"/>
            <a:ext cx="6833473" cy="288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Dependencies, APIs, and environment tools set up and verified.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28636" y="4371380"/>
            <a:ext cx="540068" cy="22860"/>
          </a:xfrm>
          <a:prstGeom prst="roundRect">
            <a:avLst>
              <a:gd name="adj" fmla="val 708828"/>
            </a:avLst>
          </a:prstGeom>
          <a:solidFill>
            <a:srgbClr val="B7D5CA"/>
          </a:solidFill>
          <a:ln/>
        </p:spPr>
      </p:sp>
      <p:sp>
        <p:nvSpPr>
          <p:cNvPr id="12" name="Shape 9"/>
          <p:cNvSpPr/>
          <p:nvPr/>
        </p:nvSpPr>
        <p:spPr>
          <a:xfrm>
            <a:off x="6183987" y="4315301"/>
            <a:ext cx="135017" cy="135017"/>
          </a:xfrm>
          <a:prstGeom prst="roundRect">
            <a:avLst>
              <a:gd name="adj" fmla="val 338624"/>
            </a:avLst>
          </a:prstGeom>
          <a:solidFill>
            <a:srgbClr val="006747"/>
          </a:solidFill>
          <a:ln/>
        </p:spPr>
      </p:sp>
      <p:sp>
        <p:nvSpPr>
          <p:cNvPr id="13" name="Shape 10"/>
          <p:cNvSpPr/>
          <p:nvPr/>
        </p:nvSpPr>
        <p:spPr>
          <a:xfrm>
            <a:off x="6791563" y="3856553"/>
            <a:ext cx="7208758" cy="1052513"/>
          </a:xfrm>
          <a:prstGeom prst="roundRect">
            <a:avLst>
              <a:gd name="adj" fmla="val 15395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79206" y="4044196"/>
            <a:ext cx="2250519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Audio Streaming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6979206" y="4433411"/>
            <a:ext cx="6833473" cy="288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FFmpeg and PortAudio utilized for robust audio capture and processing.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28636" y="5783937"/>
            <a:ext cx="540068" cy="22860"/>
          </a:xfrm>
          <a:prstGeom prst="roundRect">
            <a:avLst>
              <a:gd name="adj" fmla="val 708828"/>
            </a:avLst>
          </a:prstGeom>
          <a:solidFill>
            <a:srgbClr val="B7D5CA"/>
          </a:solidFill>
          <a:ln/>
        </p:spPr>
      </p:sp>
      <p:sp>
        <p:nvSpPr>
          <p:cNvPr id="17" name="Shape 14"/>
          <p:cNvSpPr/>
          <p:nvPr/>
        </p:nvSpPr>
        <p:spPr>
          <a:xfrm>
            <a:off x="6183987" y="5727859"/>
            <a:ext cx="135017" cy="135017"/>
          </a:xfrm>
          <a:prstGeom prst="roundRect">
            <a:avLst>
              <a:gd name="adj" fmla="val 338624"/>
            </a:avLst>
          </a:prstGeom>
          <a:solidFill>
            <a:srgbClr val="006747"/>
          </a:solidFill>
          <a:ln/>
        </p:spPr>
      </p:sp>
      <p:sp>
        <p:nvSpPr>
          <p:cNvPr id="18" name="Shape 15"/>
          <p:cNvSpPr/>
          <p:nvPr/>
        </p:nvSpPr>
        <p:spPr>
          <a:xfrm>
            <a:off x="6791563" y="5269111"/>
            <a:ext cx="7208758" cy="1052513"/>
          </a:xfrm>
          <a:prstGeom prst="roundRect">
            <a:avLst>
              <a:gd name="adj" fmla="val 15395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79206" y="5456753"/>
            <a:ext cx="3054072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Environment Management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6979206" y="5845969"/>
            <a:ext cx="6833473" cy="288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Pipenv/venv/Conda used to isolate and manage project packages.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228636" y="7196495"/>
            <a:ext cx="540068" cy="22860"/>
          </a:xfrm>
          <a:prstGeom prst="roundRect">
            <a:avLst>
              <a:gd name="adj" fmla="val 708828"/>
            </a:avLst>
          </a:prstGeom>
          <a:solidFill>
            <a:srgbClr val="B7D5CA"/>
          </a:solidFill>
          <a:ln/>
        </p:spPr>
      </p:sp>
      <p:sp>
        <p:nvSpPr>
          <p:cNvPr id="22" name="Shape 19"/>
          <p:cNvSpPr/>
          <p:nvPr/>
        </p:nvSpPr>
        <p:spPr>
          <a:xfrm>
            <a:off x="6183987" y="7140416"/>
            <a:ext cx="135017" cy="135017"/>
          </a:xfrm>
          <a:prstGeom prst="roundRect">
            <a:avLst>
              <a:gd name="adj" fmla="val 338624"/>
            </a:avLst>
          </a:prstGeom>
          <a:solidFill>
            <a:srgbClr val="006747"/>
          </a:solidFill>
          <a:ln/>
        </p:spPr>
      </p:sp>
      <p:sp>
        <p:nvSpPr>
          <p:cNvPr id="23" name="Shape 20"/>
          <p:cNvSpPr/>
          <p:nvPr/>
        </p:nvSpPr>
        <p:spPr>
          <a:xfrm>
            <a:off x="6791563" y="6681668"/>
            <a:ext cx="7208758" cy="1052513"/>
          </a:xfrm>
          <a:prstGeom prst="roundRect">
            <a:avLst>
              <a:gd name="adj" fmla="val 15395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79206" y="6869311"/>
            <a:ext cx="2411135" cy="281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Interface Integration</a:t>
            </a:r>
            <a:endParaRPr lang="en-US" sz="1750" dirty="0"/>
          </a:p>
        </p:txBody>
      </p:sp>
      <p:sp>
        <p:nvSpPr>
          <p:cNvPr id="25" name="Text 22"/>
          <p:cNvSpPr/>
          <p:nvPr/>
        </p:nvSpPr>
        <p:spPr>
          <a:xfrm>
            <a:off x="6979206" y="7258526"/>
            <a:ext cx="6833473" cy="288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All modules consolidated and connected within the Gradio user interface.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6128" y="684728"/>
            <a:ext cx="6169104" cy="485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Phased Development Approach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6166128" y="1461373"/>
            <a:ext cx="7784544" cy="621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project was executed in four sequential phases, building up the necessary functionalities from core intelligence to final user interaction.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166128" y="2301121"/>
            <a:ext cx="776764" cy="1165265"/>
          </a:xfrm>
          <a:prstGeom prst="roundRect">
            <a:avLst>
              <a:gd name="adj" fmla="val 360039"/>
            </a:avLst>
          </a:prstGeom>
          <a:solidFill>
            <a:srgbClr val="FFB393"/>
          </a:solidFill>
          <a:ln w="7620">
            <a:solidFill>
              <a:srgbClr val="E59979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8896" y="2738080"/>
            <a:ext cx="291227" cy="2912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37083" y="2495312"/>
            <a:ext cx="2427565" cy="30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Brain of the Doctor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7137083" y="2915126"/>
            <a:ext cx="6813590" cy="310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Setup and fine-tuning of the Multimodal LLM (Groq + Llama 3 Vision).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166128" y="3660577"/>
            <a:ext cx="776764" cy="1165265"/>
          </a:xfrm>
          <a:prstGeom prst="roundRect">
            <a:avLst>
              <a:gd name="adj" fmla="val 360039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8896" y="4097536"/>
            <a:ext cx="291227" cy="29122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37083" y="3854768"/>
            <a:ext cx="2427565" cy="30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Voice of the Patient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7137083" y="4274582"/>
            <a:ext cx="6813590" cy="310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Implementing robust Speech-to-Text conversion via OpenAI Whisper.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166128" y="5020032"/>
            <a:ext cx="776764" cy="1165265"/>
          </a:xfrm>
          <a:prstGeom prst="roundRect">
            <a:avLst>
              <a:gd name="adj" fmla="val 360039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08896" y="5456992"/>
            <a:ext cx="291227" cy="29122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137083" y="5214223"/>
            <a:ext cx="2427565" cy="30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Voice of the Doctor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7137083" y="5634038"/>
            <a:ext cx="6813590" cy="310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Integration of Text-to-Speech (gTTS/ElevenLabs) for verbal responses.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6166128" y="6379488"/>
            <a:ext cx="776764" cy="1165265"/>
          </a:xfrm>
          <a:prstGeom prst="roundRect">
            <a:avLst>
              <a:gd name="adj" fmla="val 360039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08896" y="6816447"/>
            <a:ext cx="291227" cy="29122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137083" y="6573679"/>
            <a:ext cx="2427565" cy="30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Gradio UI</a:t>
            </a:r>
            <a:endParaRPr lang="en-US" sz="1900" dirty="0"/>
          </a:p>
        </p:txBody>
      </p:sp>
      <p:sp>
        <p:nvSpPr>
          <p:cNvPr id="20" name="Text 13"/>
          <p:cNvSpPr/>
          <p:nvPr/>
        </p:nvSpPr>
        <p:spPr>
          <a:xfrm>
            <a:off x="7137083" y="6993493"/>
            <a:ext cx="6813590" cy="310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Final integration, system testing, and user interface deployment.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2568" y="426363"/>
            <a:ext cx="6734056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Working Model Architecture: Process 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2568" y="1123950"/>
            <a:ext cx="13545264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end-to-end consultation process demonstrates how multimodal inputs are transformed into diagnostic suggestions and verbal responses in real-time.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408" y="1546265"/>
            <a:ext cx="13433584" cy="57928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2353" y="6240587"/>
            <a:ext cx="3047625" cy="38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Synthesize Voice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502353" y="4899632"/>
            <a:ext cx="3047625" cy="38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Interpret Input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502353" y="3572222"/>
            <a:ext cx="3047625" cy="38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Speech-to-Text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502353" y="2231267"/>
            <a:ext cx="3047625" cy="380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Capture Audio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5097" y="7745968"/>
            <a:ext cx="1937980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Core Mechanism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5097" y="8220789"/>
            <a:ext cx="1331273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system operates under a tight latency constraint, leveraging Groq's acceleration to ensure the conversation remains fluid and responsive, simulating a natural human exchange.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2568" y="7513439"/>
            <a:ext cx="22860" cy="1129665"/>
          </a:xfrm>
          <a:prstGeom prst="rect">
            <a:avLst/>
          </a:prstGeom>
          <a:solidFill>
            <a:srgbClr val="006747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5074" y="745808"/>
            <a:ext cx="8373070" cy="425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Evaluation Methodology and Testing Framework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595074" y="1510903"/>
            <a:ext cx="13440251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Doctor 2.0 was rigorously tested across 50 simulated consultation sessions to validate functional performance and conversational quality.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5074" y="2165271"/>
            <a:ext cx="7898130" cy="1093351"/>
          </a:xfrm>
          <a:prstGeom prst="roundRect">
            <a:avLst>
              <a:gd name="adj" fmla="val 10036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B7D5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2214" y="2165271"/>
            <a:ext cx="91440" cy="1093351"/>
          </a:xfrm>
          <a:prstGeom prst="roundRect">
            <a:avLst>
              <a:gd name="adj" fmla="val 167352"/>
            </a:avLst>
          </a:prstGeom>
          <a:solidFill>
            <a:srgbClr val="006747"/>
          </a:solidFill>
          <a:ln/>
        </p:spPr>
      </p:sp>
      <p:sp>
        <p:nvSpPr>
          <p:cNvPr id="6" name="Text 4"/>
          <p:cNvSpPr/>
          <p:nvPr/>
        </p:nvSpPr>
        <p:spPr>
          <a:xfrm>
            <a:off x="856536" y="2358152"/>
            <a:ext cx="2551271" cy="26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Transcription Accuracy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56536" y="2793802"/>
            <a:ext cx="7443788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Measures the fidelity of Whisper's speech-to-text conversion.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5074" y="3428643"/>
            <a:ext cx="7898130" cy="1093351"/>
          </a:xfrm>
          <a:prstGeom prst="roundRect">
            <a:avLst>
              <a:gd name="adj" fmla="val 10036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B7D5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2214" y="3428643"/>
            <a:ext cx="91440" cy="1093351"/>
          </a:xfrm>
          <a:prstGeom prst="roundRect">
            <a:avLst>
              <a:gd name="adj" fmla="val 167352"/>
            </a:avLst>
          </a:prstGeom>
          <a:solidFill>
            <a:srgbClr val="006747"/>
          </a:solidFill>
          <a:ln/>
        </p:spPr>
      </p:sp>
      <p:sp>
        <p:nvSpPr>
          <p:cNvPr id="10" name="Text 8"/>
          <p:cNvSpPr/>
          <p:nvPr/>
        </p:nvSpPr>
        <p:spPr>
          <a:xfrm>
            <a:off x="856536" y="3621524"/>
            <a:ext cx="2182058" cy="26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Response Relevance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56536" y="4057174"/>
            <a:ext cx="7443788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Evaluates the medical appropriateness and contextual understanding of Llama 3's output.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5074" y="4692015"/>
            <a:ext cx="7898130" cy="1093351"/>
          </a:xfrm>
          <a:prstGeom prst="roundRect">
            <a:avLst>
              <a:gd name="adj" fmla="val 10036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B7D5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2214" y="4692015"/>
            <a:ext cx="91440" cy="1093351"/>
          </a:xfrm>
          <a:prstGeom prst="roundRect">
            <a:avLst>
              <a:gd name="adj" fmla="val 167352"/>
            </a:avLst>
          </a:prstGeom>
          <a:solidFill>
            <a:srgbClr val="006747"/>
          </a:solidFill>
          <a:ln/>
        </p:spPr>
      </p:sp>
      <p:sp>
        <p:nvSpPr>
          <p:cNvPr id="14" name="Text 12"/>
          <p:cNvSpPr/>
          <p:nvPr/>
        </p:nvSpPr>
        <p:spPr>
          <a:xfrm>
            <a:off x="856536" y="4884896"/>
            <a:ext cx="2125266" cy="26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Latency (Speed)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56536" y="5320546"/>
            <a:ext cx="7443788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Measures the time delay between patient input and doctor response (real-time performance).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5074" y="5955387"/>
            <a:ext cx="7898130" cy="1093351"/>
          </a:xfrm>
          <a:prstGeom prst="roundRect">
            <a:avLst>
              <a:gd name="adj" fmla="val 10036"/>
            </a:avLst>
          </a:prstGeom>
          <a:solidFill>
            <a:srgbClr val="E5F9F2">
              <a:alpha val="95000"/>
            </a:srgbClr>
          </a:solidFill>
          <a:ln w="22860">
            <a:solidFill>
              <a:srgbClr val="B7D5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2214" y="5955387"/>
            <a:ext cx="91440" cy="1093351"/>
          </a:xfrm>
          <a:prstGeom prst="roundRect">
            <a:avLst>
              <a:gd name="adj" fmla="val 167352"/>
            </a:avLst>
          </a:prstGeom>
          <a:solidFill>
            <a:srgbClr val="006747"/>
          </a:solidFill>
          <a:ln/>
        </p:spPr>
      </p:sp>
      <p:sp>
        <p:nvSpPr>
          <p:cNvPr id="18" name="Text 16"/>
          <p:cNvSpPr/>
          <p:nvPr/>
        </p:nvSpPr>
        <p:spPr>
          <a:xfrm>
            <a:off x="856536" y="6148268"/>
            <a:ext cx="2994184" cy="26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Speech Quality (MOS Score)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56536" y="6583918"/>
            <a:ext cx="7443788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Mean Opinion Score rating of the naturalness and clarity of the Text-to-Speech output.</a:t>
            </a:r>
            <a:endParaRPr lang="en-US" sz="13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638" y="2165271"/>
            <a:ext cx="5127188" cy="51271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8669" y="611862"/>
            <a:ext cx="7021949" cy="556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Performance Metrics Overview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78669" y="1613059"/>
            <a:ext cx="13073063" cy="711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prototype successfully met or nearly met all predefined performance goals, demonstrating high reliability and responsiveness.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78669" y="2575322"/>
            <a:ext cx="13073063" cy="2567940"/>
          </a:xfrm>
          <a:prstGeom prst="roundRect">
            <a:avLst>
              <a:gd name="adj" fmla="val 779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289" y="2582942"/>
            <a:ext cx="13057823" cy="63817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08817" y="2724031"/>
            <a:ext cx="3468648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Transcription Accuracy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929902" y="2724031"/>
            <a:ext cx="2812018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93.8%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194358" y="2724031"/>
            <a:ext cx="5427345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95% target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86289" y="3221117"/>
            <a:ext cx="13057823" cy="63817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08817" y="3362206"/>
            <a:ext cx="3468648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Response Relevance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929902" y="3362206"/>
            <a:ext cx="2812018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89.2%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8194358" y="3362206"/>
            <a:ext cx="5427345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90% target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86289" y="3859292"/>
            <a:ext cx="13057823" cy="63817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08817" y="4000381"/>
            <a:ext cx="3468648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Average Latency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4929902" y="4000381"/>
            <a:ext cx="2812018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1.4 sec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8194358" y="4000381"/>
            <a:ext cx="5427345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&lt;2 sec goal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86289" y="4497467"/>
            <a:ext cx="13057823" cy="63817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08817" y="4638556"/>
            <a:ext cx="3468648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Speech Quality (MOS)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4929902" y="4638556"/>
            <a:ext cx="2812018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4.3/5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8194358" y="4638556"/>
            <a:ext cx="5427345" cy="355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4.5/5 goal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78669" y="5393531"/>
            <a:ext cx="13073063" cy="2227421"/>
          </a:xfrm>
          <a:prstGeom prst="roundRect">
            <a:avLst>
              <a:gd name="adj" fmla="val 8990"/>
            </a:avLst>
          </a:prstGeom>
          <a:solidFill>
            <a:srgbClr val="B3FFE7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078" y="5717738"/>
            <a:ext cx="347543" cy="278011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71030" y="5671542"/>
            <a:ext cx="2781181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Key Observations</a:t>
            </a:r>
            <a:endParaRPr lang="en-US" sz="2150" dirty="0"/>
          </a:p>
        </p:txBody>
      </p:sp>
      <p:sp>
        <p:nvSpPr>
          <p:cNvPr id="24" name="Text 21"/>
          <p:cNvSpPr/>
          <p:nvPr/>
        </p:nvSpPr>
        <p:spPr>
          <a:xfrm>
            <a:off x="1571030" y="6241613"/>
            <a:ext cx="12058293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integration of Whisper and Groq significantly optimized the system for low latency, achieving a real-time response that is critical for clinical applications. The system demonstrates near-human conversational quality with high functional integration.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020" y="576620"/>
            <a:ext cx="4194334" cy="524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Key Results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34020" y="1520190"/>
            <a:ext cx="13162359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Doctor 2.0 achieved significant milestones, delivering a robust and highly functional prototype ready for advanced applications.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4020" y="2091452"/>
            <a:ext cx="524232" cy="524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4020" y="2877741"/>
            <a:ext cx="3051691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Conversational Quality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734020" y="3331131"/>
            <a:ext cx="13162359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Achieved near-human conversational fluidity, enhancing patient engagement and natural interaction.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020" y="4085868"/>
            <a:ext cx="524232" cy="5242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4020" y="4872157"/>
            <a:ext cx="3423880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Multimodal Functionality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734020" y="5325547"/>
            <a:ext cx="13162359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Seamlessly integrated voice and image processing for comprehensive diagnostic support.</a:t>
            </a:r>
            <a:endParaRPr lang="en-US" sz="16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4020" y="6080284"/>
            <a:ext cx="524232" cy="5242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4020" y="6866573"/>
            <a:ext cx="2897624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Modular Architecture</a:t>
            </a:r>
            <a:endParaRPr lang="en-US" sz="2050" dirty="0"/>
          </a:p>
        </p:txBody>
      </p:sp>
      <p:sp>
        <p:nvSpPr>
          <p:cNvPr id="12" name="Text 7"/>
          <p:cNvSpPr/>
          <p:nvPr/>
        </p:nvSpPr>
        <p:spPr>
          <a:xfrm>
            <a:off x="734020" y="7319963"/>
            <a:ext cx="13162359" cy="335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Designed for easy future upgrades and scalability, adapting to evolving medical knowledge and technology.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2174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Challenges Faced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22277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Throughout the development of AI Doctor 2.0, several key challenges emerged, requiring innovative solutions and careful resource management.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43895"/>
            <a:ext cx="4196358" cy="3483531"/>
          </a:xfrm>
          <a:prstGeom prst="roundRect">
            <a:avLst>
              <a:gd name="adj" fmla="val 4200"/>
            </a:avLst>
          </a:prstGeom>
          <a:solidFill>
            <a:srgbClr val="E5F9F2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513415"/>
            <a:ext cx="4196358" cy="121920"/>
          </a:xfrm>
          <a:prstGeom prst="roundRect">
            <a:avLst>
              <a:gd name="adj" fmla="val 167442"/>
            </a:avLst>
          </a:prstGeom>
          <a:solidFill>
            <a:srgbClr val="006747"/>
          </a:solidFill>
          <a:ln/>
        </p:spPr>
      </p:sp>
      <p:sp>
        <p:nvSpPr>
          <p:cNvPr id="6" name="Shape 4"/>
          <p:cNvSpPr/>
          <p:nvPr/>
        </p:nvSpPr>
        <p:spPr>
          <a:xfrm>
            <a:off x="2551688" y="320373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674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55761" y="3407807"/>
            <a:ext cx="272177" cy="2721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084" y="4110871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GPU Resource Management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51084" y="4955619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Optimising real-time audio processing proved complex due to limited GPU resources, necessitating efficient buffer handling.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216962" y="3543895"/>
            <a:ext cx="4196358" cy="3483531"/>
          </a:xfrm>
          <a:prstGeom prst="roundRect">
            <a:avLst>
              <a:gd name="adj" fmla="val 4200"/>
            </a:avLst>
          </a:prstGeom>
          <a:solidFill>
            <a:srgbClr val="E5F9F2">
              <a:alpha val="9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216962" y="3513415"/>
            <a:ext cx="4196358" cy="121920"/>
          </a:xfrm>
          <a:prstGeom prst="roundRect">
            <a:avLst>
              <a:gd name="adj" fmla="val 167442"/>
            </a:avLst>
          </a:prstGeom>
          <a:solidFill>
            <a:srgbClr val="006747"/>
          </a:solidFill>
          <a:ln/>
        </p:spPr>
      </p:sp>
      <p:sp>
        <p:nvSpPr>
          <p:cNvPr id="12" name="Shape 9"/>
          <p:cNvSpPr/>
          <p:nvPr/>
        </p:nvSpPr>
        <p:spPr>
          <a:xfrm>
            <a:off x="6974860" y="320373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674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8933" y="3407807"/>
            <a:ext cx="272177" cy="27217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74256" y="4110871"/>
            <a:ext cx="35067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API Integration Stability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5474256" y="4601289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Achieving seamless and robust interaction across various third-party APIs presented significant integration challenges.</a:t>
            </a:r>
            <a:endParaRPr lang="en-US" sz="1750" dirty="0"/>
          </a:p>
        </p:txBody>
      </p:sp>
      <p:sp>
        <p:nvSpPr>
          <p:cNvPr id="16" name="Shape 12"/>
          <p:cNvSpPr/>
          <p:nvPr/>
        </p:nvSpPr>
        <p:spPr>
          <a:xfrm>
            <a:off x="9640133" y="3543895"/>
            <a:ext cx="4196358" cy="3483531"/>
          </a:xfrm>
          <a:prstGeom prst="roundRect">
            <a:avLst>
              <a:gd name="adj" fmla="val 4200"/>
            </a:avLst>
          </a:prstGeom>
          <a:solidFill>
            <a:srgbClr val="E5F9F2">
              <a:alpha val="95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9640133" y="3513415"/>
            <a:ext cx="4196358" cy="121920"/>
          </a:xfrm>
          <a:prstGeom prst="roundRect">
            <a:avLst>
              <a:gd name="adj" fmla="val 167442"/>
            </a:avLst>
          </a:prstGeom>
          <a:solidFill>
            <a:srgbClr val="006747"/>
          </a:solidFill>
          <a:ln/>
        </p:spPr>
      </p:sp>
      <p:sp>
        <p:nvSpPr>
          <p:cNvPr id="18" name="Shape 14"/>
          <p:cNvSpPr/>
          <p:nvPr/>
        </p:nvSpPr>
        <p:spPr>
          <a:xfrm>
            <a:off x="11398032" y="320373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00674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02105" y="3407807"/>
            <a:ext cx="272177" cy="27217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897427" y="4110871"/>
            <a:ext cx="31139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Domain Data Scarcity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9897427" y="4601289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absence of comprehensive, medically-specific datasets hindered advanced fine-tuning for nuanced diagnostic capabilities.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26400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Conclusion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353353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Doctor 2.0 significantly enhances accessibility in telemedicine, delivering accurate, real-time, and human-like consultations.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51449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project establishes a foundational model for intelligent healthcare systems, showcasing the power of multimodal AI in clinical applications and paving the way for future advancements in patient care.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2025-11-20T13:55:52Z</dcterms:created>
  <dcterms:modified xsi:type="dcterms:W3CDTF">2025-11-20T13:55:52Z</dcterms:modified>
</cp:coreProperties>
</file>